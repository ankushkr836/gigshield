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068cf1efcc40d2" /><Relationship Type="http://schemas.openxmlformats.org/officeDocument/2006/relationships/extended-properties" Target="/docProps/app.xml" Id="Rda087237103043b0" /><Relationship Type="http://schemas.openxmlformats.org/officeDocument/2006/relationships/officeDocument" Target="/ppt/presentation.xml" Id="R9f58f166e03f48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4407ec575646bd"/>
  </p:sldMasterIdLst>
  <p:notesMasterIdLst>
    <p:notesMasterId xmlns:r="http://schemas.openxmlformats.org/officeDocument/2006/relationships" r:id="Rf694659cdc9248b8"/>
  </p:notesMasterIdLst>
  <p:sldIdLst>
    <p:sldId xmlns:r="http://schemas.openxmlformats.org/officeDocument/2006/relationships" id="256" r:id="Re63ebe33042845d5"/>
    <p:sldId xmlns:r="http://schemas.openxmlformats.org/officeDocument/2006/relationships" id="257" r:id="R04837fed3fce4ca5"/>
    <p:sldId xmlns:r="http://schemas.openxmlformats.org/officeDocument/2006/relationships" id="258" r:id="R73d8c9b58eab4fdb"/>
    <p:sldId xmlns:r="http://schemas.openxmlformats.org/officeDocument/2006/relationships" id="259" r:id="R94a0a2b0bdb04ae6"/>
    <p:sldId xmlns:r="http://schemas.openxmlformats.org/officeDocument/2006/relationships" id="260" r:id="Re97c87c153084fbf"/>
    <p:sldId xmlns:r="http://schemas.openxmlformats.org/officeDocument/2006/relationships" id="261" r:id="Rd29ea5016ce641f5"/>
    <p:sldId xmlns:r="http://schemas.openxmlformats.org/officeDocument/2006/relationships" id="262" r:id="Ra5a1d80d404141b4"/>
    <p:sldId xmlns:r="http://schemas.openxmlformats.org/officeDocument/2006/relationships" id="263" r:id="Rf00ae677e75b47a7"/>
    <p:sldId xmlns:r="http://schemas.openxmlformats.org/officeDocument/2006/relationships" id="264" r:id="R69062ba8060b4f0e"/>
    <p:sldId xmlns:r="http://schemas.openxmlformats.org/officeDocument/2006/relationships" id="265" r:id="Rccc79922b891403d"/>
    <p:sldId xmlns:r="http://schemas.openxmlformats.org/officeDocument/2006/relationships" id="266" r:id="R7188efa1390a44a7"/>
    <p:sldId xmlns:r="http://schemas.openxmlformats.org/officeDocument/2006/relationships" id="267" r:id="R54043773adff4a42"/>
    <p:sldId xmlns:r="http://schemas.openxmlformats.org/officeDocument/2006/relationships" id="268" r:id="Rab8e2339ded54d16"/>
    <p:sldId xmlns:r="http://schemas.openxmlformats.org/officeDocument/2006/relationships" id="269" r:id="R7a6ba912bb04475c"/>
    <p:sldId xmlns:r="http://schemas.openxmlformats.org/officeDocument/2006/relationships" id="270" r:id="R7d50154f83d442a1"/>
    <p:sldId xmlns:r="http://schemas.openxmlformats.org/officeDocument/2006/relationships" id="271" r:id="Rbb98adda82f742ce"/>
    <p:sldId xmlns:r="http://schemas.openxmlformats.org/officeDocument/2006/relationships" id="272" r:id="Rcff2cdbeae3c412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1484f3d5784a57" /><Relationship Type="http://schemas.openxmlformats.org/officeDocument/2006/relationships/slideMaster" Target="/ppt/slideMasters/slideMaster1.xml" Id="R854407ec575646bd" /><Relationship Type="http://schemas.openxmlformats.org/officeDocument/2006/relationships/notesMaster" Target="/ppt/notesMasters/notesMaster1.xml" Id="Rf694659cdc9248b8" /><Relationship Type="http://schemas.openxmlformats.org/officeDocument/2006/relationships/presProps" Target="/ppt/presProps.xml" Id="Rf85344b85e7a4500" /><Relationship Type="http://schemas.openxmlformats.org/officeDocument/2006/relationships/viewProps" Target="/ppt/viewProps.xml" Id="R4d07d7b39fbf4f20" /><Relationship Type="http://schemas.openxmlformats.org/officeDocument/2006/relationships/tableStyles" Target="/ppt/tableStyles.xml" Id="Re513425952c34468" /><Relationship Type="http://schemas.openxmlformats.org/officeDocument/2006/relationships/slide" Target="/ppt/slides/slide1.xml" Id="Re63ebe33042845d5" /><Relationship Type="http://schemas.openxmlformats.org/officeDocument/2006/relationships/slide" Target="/ppt/slides/slide2.xml" Id="R04837fed3fce4ca5" /><Relationship Type="http://schemas.openxmlformats.org/officeDocument/2006/relationships/slide" Target="/ppt/slides/slide3.xml" Id="R73d8c9b58eab4fdb" /><Relationship Type="http://schemas.openxmlformats.org/officeDocument/2006/relationships/slide" Target="/ppt/slides/slide4.xml" Id="R94a0a2b0bdb04ae6" /><Relationship Type="http://schemas.openxmlformats.org/officeDocument/2006/relationships/slide" Target="/ppt/slides/slide5.xml" Id="Re97c87c153084fbf" /><Relationship Type="http://schemas.openxmlformats.org/officeDocument/2006/relationships/slide" Target="/ppt/slides/slide6.xml" Id="Rd29ea5016ce641f5" /><Relationship Type="http://schemas.openxmlformats.org/officeDocument/2006/relationships/slide" Target="/ppt/slides/slide7.xml" Id="Ra5a1d80d404141b4" /><Relationship Type="http://schemas.openxmlformats.org/officeDocument/2006/relationships/slide" Target="/ppt/slides/slide8.xml" Id="Rf00ae677e75b47a7" /><Relationship Type="http://schemas.openxmlformats.org/officeDocument/2006/relationships/slide" Target="/ppt/slides/slide9.xml" Id="R69062ba8060b4f0e" /><Relationship Type="http://schemas.openxmlformats.org/officeDocument/2006/relationships/slide" Target="/ppt/slides/slide10.xml" Id="Rccc79922b891403d" /><Relationship Type="http://schemas.openxmlformats.org/officeDocument/2006/relationships/slide" Target="/ppt/slides/slide11.xml" Id="R7188efa1390a44a7" /><Relationship Type="http://schemas.openxmlformats.org/officeDocument/2006/relationships/slide" Target="/ppt/slides/slide12.xml" Id="R54043773adff4a42" /><Relationship Type="http://schemas.openxmlformats.org/officeDocument/2006/relationships/slide" Target="/ppt/slides/slide13.xml" Id="Rab8e2339ded54d16" /><Relationship Type="http://schemas.openxmlformats.org/officeDocument/2006/relationships/slide" Target="/ppt/slides/slide14.xml" Id="R7a6ba912bb04475c" /><Relationship Type="http://schemas.openxmlformats.org/officeDocument/2006/relationships/slide" Target="/ppt/slides/slide15.xml" Id="R7d50154f83d442a1" /><Relationship Type="http://schemas.openxmlformats.org/officeDocument/2006/relationships/slide" Target="/ppt/slides/slide16.xml" Id="Rbb98adda82f742ce" /><Relationship Type="http://schemas.openxmlformats.org/officeDocument/2006/relationships/slide" Target="/ppt/slides/slide17.xml" Id="Rcff2cdbeae3c41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fc6147364742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8545" dir="4557825">
              <a:srgbClr val="142943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6da05fb4b7415f" /><Relationship Type="http://schemas.openxmlformats.org/officeDocument/2006/relationships/notesMaster" Target="/ppt/notesMasters/notesMaster1.xml" Id="R588329b45bee48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3d10e97e844c16" /><Relationship Type="http://schemas.openxmlformats.org/officeDocument/2006/relationships/notesMaster" Target="/ppt/notesMasters/notesMaster1.xml" Id="Rfea640d7b2d7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1dc4296db24356" /><Relationship Type="http://schemas.openxmlformats.org/officeDocument/2006/relationships/notesMaster" Target="/ppt/notesMasters/notesMaster1.xml" Id="R70f1b81d7bfd45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4597fb8a5c440c" /><Relationship Type="http://schemas.openxmlformats.org/officeDocument/2006/relationships/notesMaster" Target="/ppt/notesMasters/notesMaster1.xml" Id="R336dcd39c68a43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301315a31e486f" /><Relationship Type="http://schemas.openxmlformats.org/officeDocument/2006/relationships/notesMaster" Target="/ppt/notesMasters/notesMaster1.xml" Id="R4ab806626f8847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7af749c1f44781" /><Relationship Type="http://schemas.openxmlformats.org/officeDocument/2006/relationships/notesMaster" Target="/ppt/notesMasters/notesMaster1.xml" Id="R7932e172dace42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d6e33ac0404dda" /><Relationship Type="http://schemas.openxmlformats.org/officeDocument/2006/relationships/notesMaster" Target="/ppt/notesMasters/notesMaster1.xml" Id="Rd6bc922941bd4e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c3a3fae6d94f1c" /><Relationship Type="http://schemas.openxmlformats.org/officeDocument/2006/relationships/notesMaster" Target="/ppt/notesMasters/notesMaster1.xml" Id="Rad3f200d98c547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40138bc09246e4" /><Relationship Type="http://schemas.openxmlformats.org/officeDocument/2006/relationships/notesMaster" Target="/ppt/notesMasters/notesMaster1.xml" Id="R8db7d4ee6c4649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445f593bac4c41" /><Relationship Type="http://schemas.openxmlformats.org/officeDocument/2006/relationships/notesMaster" Target="/ppt/notesMasters/notesMaster1.xml" Id="Rdc1d0717da3e49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58039c61994791" /><Relationship Type="http://schemas.openxmlformats.org/officeDocument/2006/relationships/notesMaster" Target="/ppt/notesMasters/notesMaster1.xml" Id="R7733d05c738b4f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158723b8eb47c7" /><Relationship Type="http://schemas.openxmlformats.org/officeDocument/2006/relationships/notesMaster" Target="/ppt/notesMasters/notesMaster1.xml" Id="Rb373941cee8043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53311c743a48d5" /><Relationship Type="http://schemas.openxmlformats.org/officeDocument/2006/relationships/notesMaster" Target="/ppt/notesMasters/notesMaster1.xml" Id="Rfb4b5f1e16a446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2cb657b9b64732" /><Relationship Type="http://schemas.openxmlformats.org/officeDocument/2006/relationships/notesMaster" Target="/ppt/notesMasters/notesMaster1.xml" Id="R75c3c7ffe31c45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470790ae5c4f58" /><Relationship Type="http://schemas.openxmlformats.org/officeDocument/2006/relationships/notesMaster" Target="/ppt/notesMasters/notesMaster1.xml" Id="R4cb65697462944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ce8adfec844047" /><Relationship Type="http://schemas.openxmlformats.org/officeDocument/2006/relationships/notesMaster" Target="/ppt/notesMasters/notesMaster1.xml" Id="R5b5b8116f23543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945888743541ad" /><Relationship Type="http://schemas.openxmlformats.org/officeDocument/2006/relationships/notesMaster" Target="/ppt/notesMasters/notesMaster1.xml" Id="R2b7b2da9b14e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preserved in code: companies have active CoveragePlan rows; riders register with company_id and zone_id. The payout_per_day plan rate is enforced as a remaining daily limit by backend/app/services/coverage_cap.py. It is not a rider-purchased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c4d4082964d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1ab688a2064450" /><Relationship Type="http://schemas.openxmlformats.org/officeDocument/2006/relationships/slideLayout" Target="/ppt/slideLayouts/slideLayout1.xml" Id="R1d201e0be7c247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01e0be7c247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8545" dir="4557825">
              <a:srgbClr val="142943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ce138e6f54b57" /><Relationship Type="http://schemas.openxmlformats.org/officeDocument/2006/relationships/image" Target="/ppt/media/image.jpeg" Id="R22dbb1f3a9b94c67" /><Relationship Type="http://schemas.openxmlformats.org/officeDocument/2006/relationships/notesSlide" Target="/ppt/notesSlides/notesSlide1.xml" Id="Rc0a3a711cf8148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475352c4b474a" /><Relationship Type="http://schemas.openxmlformats.org/officeDocument/2006/relationships/image" Target="/ppt/media/image2.jpeg" Id="R077a3f7ea7e34d6c" /><Relationship Type="http://schemas.openxmlformats.org/officeDocument/2006/relationships/notesSlide" Target="/ppt/notesSlides/notesSlide2.xml" Id="Rcd415a0ffc5e40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54e4c7a94427d" /><Relationship Type="http://schemas.openxmlformats.org/officeDocument/2006/relationships/notesSlide" Target="/ppt/notesSlides/notesSlide3.xml" Id="Re020ce3075904d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03ffdaeb94ff5" /><Relationship Type="http://schemas.openxmlformats.org/officeDocument/2006/relationships/notesSlide" Target="/ppt/notesSlides/notesSlide4.xml" Id="Ra30be7ebb64948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da8009193421d" /><Relationship Type="http://schemas.openxmlformats.org/officeDocument/2006/relationships/notesSlide" Target="/ppt/notesSlides/notesSlide5.xml" Id="R2be21692803e43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0d9af9eae4cec" /><Relationship Type="http://schemas.openxmlformats.org/officeDocument/2006/relationships/notesSlide" Target="/ppt/notesSlides/notesSlide6.xml" Id="Rcfccfd34c4234e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58a27f80c4597" /><Relationship Type="http://schemas.openxmlformats.org/officeDocument/2006/relationships/notesSlide" Target="/ppt/notesSlides/notesSlide7.xml" Id="R8270761cf6254a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3b29d8a5b4e7a" /><Relationship Type="http://schemas.openxmlformats.org/officeDocument/2006/relationships/notesSlide" Target="/ppt/notesSlides/notesSlide8.xml" Id="R2f467d762a7542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c47d65aeb4e75" /><Relationship Type="http://schemas.openxmlformats.org/officeDocument/2006/relationships/notesSlide" Target="/ppt/notesSlides/notesSlide9.xml" Id="R3af1bd84dbef47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68798bc204cb5" /><Relationship Type="http://schemas.openxmlformats.org/officeDocument/2006/relationships/image" Target="/ppt/media/image3.jpeg" Id="Rbfadbbb7cf464043" /><Relationship Type="http://schemas.openxmlformats.org/officeDocument/2006/relationships/notesSlide" Target="/ppt/notesSlides/notesSlide10.xml" Id="R0434108c9f4b4f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ae81b94b4459b" /><Relationship Type="http://schemas.openxmlformats.org/officeDocument/2006/relationships/image" Target="/ppt/media/image4.jpeg" Id="R4b5c50aa82464dd3" /><Relationship Type="http://schemas.openxmlformats.org/officeDocument/2006/relationships/notesSlide" Target="/ppt/notesSlides/notesSlide11.xml" Id="R4239b213d45046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37169640440db" /><Relationship Type="http://schemas.openxmlformats.org/officeDocument/2006/relationships/image" Target="/ppt/media/image5.jpeg" Id="R8d38bb870b9740c5" /><Relationship Type="http://schemas.openxmlformats.org/officeDocument/2006/relationships/notesSlide" Target="/ppt/notesSlides/notesSlide12.xml" Id="Rec6f779e9eef4e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7f7b1856a47c9" /><Relationship Type="http://schemas.openxmlformats.org/officeDocument/2006/relationships/notesSlide" Target="/ppt/notesSlides/notesSlide13.xml" Id="R1e661ee7231c40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91ac1c2b64a97" /><Relationship Type="http://schemas.openxmlformats.org/officeDocument/2006/relationships/notesSlide" Target="/ppt/notesSlides/notesSlide14.xml" Id="R7c1ca01bf1a547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89352a7d1421e" /><Relationship Type="http://schemas.openxmlformats.org/officeDocument/2006/relationships/notesSlide" Target="/ppt/notesSlides/notesSlide15.xml" Id="R466ce22ac85d4e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1adfbab6b4919" /><Relationship Type="http://schemas.openxmlformats.org/officeDocument/2006/relationships/notesSlide" Target="/ppt/notesSlides/notesSlide16.xml" Id="R550fdbe8653e4f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1fde87e5a4ff6" /><Relationship Type="http://schemas.openxmlformats.org/officeDocument/2006/relationships/notesSlide" Target="/ppt/notesSlides/notesSlide17.xml" Id="R90000079a65b4b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9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>
            <a:extLst xmlns:a="http://schemas.openxmlformats.org/drawingml/2006/main">
              <a:ext uri="{FF2B5EF4-FFF2-40B4-BE49-F238E27FC236}">
                <a16:creationId xmlns:a16="http://schemas.microsoft.com/office/drawing/2014/main" id="{D7AC046C-6F17-44CD-8559-C9757A4AF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bb1f3a9b94c67"/>
          <a:srcRect xmlns:a="http://schemas.openxmlformats.org/drawingml/2006/main" l="21287" t="0" r="212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573D5F-37A0-480B-8BEB-BDE6121A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>
              <a:alpha val="28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31C91C9-DB48-4014-8C21-7AA5470E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57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9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0848BC-D72D-4D5E-85E7-A53E64FF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3C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F3C1CD7-9808-4AF6-918B-953FF387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GIGSHIELD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73AE0E-B41B-4EBF-AFBD-789D2820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467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Income protection</a:t>
            </a:r>
          </a:p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disruption</a:t>
            </a:r>
          </a:p>
          <a:p xmlns:a="http://schemas.openxmlformats.org/drawingml/2006/main">
            <a:pPr algn="l"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stops the ride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9C1CD86-CD03-4AF6-AD64-29F3C504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5E3E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5E3ED"/>
                </a:solidFill>
                <a:latin typeface="Arial"/>
                <a:ea typeface="Arial"/>
                <a:cs typeface="Arial"/>
              </a:rPr>
              <a:t>A company-sponsored parametric cover prototype for gig delivery riders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257923-0F1F-48B6-9455-AFB75A19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5CDB30-AFA4-476C-92D1-0A8BBCCB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499"/>
            <a:ext cx="4574458" cy="43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FC6D8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AFC6D8"/>
                </a:solidFill>
                <a:latin typeface="Arial"/>
                <a:ea typeface="Arial"/>
                <a:cs typeface="Arial"/>
              </a:rPr>
              <a:t>ANKUSH KUMAR – 24BAI1531</a:t>
            </a:r>
            <a:endParaRPr sz="1600" b="1">
              <a:solidFill>
                <a:srgbClr val="AFC6D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3848D9-6961-4EAD-9F94-09C8A7AA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E1EAF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1EAF0"/>
                </a:solidFill>
                <a:latin typeface="Arial"/>
                <a:ea typeface="Arial"/>
                <a:cs typeface="Arial"/>
              </a:rPr>
              <a:t>Photo: Avinash Narnaware / Unsplash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24051-003A-27F2-37C0-01F0638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4963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FC6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FC6D8"/>
                </a:solidFill>
                <a:latin typeface="Arial"/>
                <a:ea typeface="Arial"/>
                <a:cs typeface="Arial"/>
              </a:rPr>
              <a:t>Presented By-</a:t>
            </a:r>
            <a:endParaRPr sz="1200" b="1">
              <a:solidFill>
                <a:srgbClr val="AFC6D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134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A17E27A-A8A4-4A09-9EEC-444ECFA7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0ADCF7-BDF8-4C02-8754-1BE86BC5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The income gap when a delivery is disrupted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6F60845-40B8-408F-8F9F-EA8C5414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Rain, flooding and civic restrictions can interrupt work that is paid task by task.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00013BF-8A6E-4932-ACD1-92B60F39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327348-69BB-4F09-B201-402CA504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  <a:endParaRPr sz="975" b="0">
              <a:solidFill>
                <a:srgbClr val="607386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endParaRPr sz="975" b="0">
              <a:solidFill>
                <a:srgbClr val="60738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4C92FEA-A080-4538-90E1-2A8D3B7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4" name="Picture 21">
            <a:extLst xmlns:a="http://schemas.openxmlformats.org/drawingml/2006/main">
              <a:ext uri="{FF2B5EF4-FFF2-40B4-BE49-F238E27FC236}">
                <a16:creationId xmlns:a16="http://schemas.microsoft.com/office/drawing/2014/main" id="{F04DEC11-8C1B-4F29-AB8C-65CEDFE41B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a3f7ea7e34d6c"/>
          <a:srcRect xmlns:a="http://schemas.openxmlformats.org/drawingml/2006/main" l="0" t="3311" r="0" b="3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743075"/>
            <a:ext cx="4286250" cy="39052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18182E-0A08-41C5-9723-3978B09F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INDIA · ESTIMATED GIG WORKFORCE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D4ADB2-0FED-4062-97A6-9C652FDC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5381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78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1.2 Cr.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501A9EF-3A3E-462D-A94B-8B3E653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workers in 2025–26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4EAAF2C-5120-4D91-9E8D-F5F34FC3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7F134E2-AE5D-4134-B4C1-D92A4AF3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A delivery that cannot be completed may mean earnings lost for that shift.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1E7014-52CD-429A-BEF1-C88CA97B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61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The protection question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461AF38-1A9B-421D-B789-053EC1F7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Can a company-backed cover respond quickly to a verified disruption, while leaving uncertain cases open for review?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41EB76F-EEED-412B-8979-B72A75FE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6262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Photo: Zoshua Colah / Unsplash</a:t>
            </a:r>
          </a:p>
        </p:txBody>
      </p:sp>
    </p:spTree>
    <p:extLst>
      <p:ext uri="{BB962C8B-B14F-4D97-AF65-F5344CB8AC3E}">
        <p14:creationId xmlns:p14="http://schemas.microsoft.com/office/powerpoint/2010/main" val="1810739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675A9CF-0EFB-46B6-AFDA-3FA6E06F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A53DF7-0EED-468A-B940-D4DE27A0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Related work · social protection for platform workers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8F4F87F-5A83-4FC6-AE93-AA6095DD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Research describes the protection challenge; GigShield prototypes one narrow operational response.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78040D5-F116-430C-A543-DAB7DB12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D9E4BDE-8251-41C6-A991-34628DC5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139133-3D3F-4319-B7E1-1DFE1410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9211BBB-4048-48C8-ABFD-D55F08A3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STUDY / FOCUS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B29EF42-17A8-4A58-93B4-5194B64B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BC3CE65-F452-4A99-90D2-7747B569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SCOPE LIMIT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1E8770-2B74-46D7-B5E0-8F757C04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CONNECTION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5B9851B-6346-41BD-BCAF-CB0CFC1C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9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B3B96C-055F-4D96-A66A-3CCC44AC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NITI Aayog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India’s Booming Gig and Platform Economy (2022)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B102345-9C39-4F58-89FF-B1CB78EB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05050"/>
            <a:ext cx="3095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Estimates India’s gig workforce and discusses the need to extend social security as platform work grows.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5641D3-3EA1-4C1A-9083-9809AA7D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National-level labour-market view; does not specify a per-delivery weather claim workflow.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40994CC-5D4B-47B1-A2EC-E67A2D9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7D9B"/>
                </a:solidFill>
                <a:latin typeface="Arial"/>
                <a:ea typeface="Arial"/>
                <a:cs typeface="Arial"/>
              </a:rPr>
              <a:t>Sets the context for a company-sponsored rider benefit.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AEA62F5-95EB-4314-A331-3D8D663B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668EFA7-AC6D-4236-8295-9191E0EF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ILO · ISSA · OECD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Social protection for gig and platform workers (2023)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B4200E9-2405-41B1-A752-CF7EAFB9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52850"/>
            <a:ext cx="309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Reviews approaches and country experience for extending adequate, sustainable social protection to platform workers.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A0ED6EE-2CFA-4B2D-844E-7BD336E4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Policy and system-level guidance; not a rider-facing disruption verification implementation.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BA35099-D8C0-4EE6-A6F2-69DEF726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528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7D9B"/>
                </a:solidFill>
                <a:latin typeface="Arial"/>
                <a:ea typeface="Arial"/>
                <a:cs typeface="Arial"/>
              </a:rPr>
              <a:t>Informs the coverage model and the need for auditable review.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670BC7D-6AEF-4AC1-BFE9-B3CB2DA5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8A9C8D8-F5CB-4EA9-B9F9-FBBEF138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Literature implication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97845BA-68BE-4740-BF13-E91E36A7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57800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A practical prototype should connect the sponsor, worker, disruption evidence and decision process in one traceable flow.</a:t>
            </a:r>
          </a:p>
        </p:txBody>
      </p:sp>
    </p:spTree>
    <p:extLst>
      <p:ext uri="{BB962C8B-B14F-4D97-AF65-F5344CB8AC3E}">
        <p14:creationId xmlns:p14="http://schemas.microsoft.com/office/powerpoint/2010/main" val="1078041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E37403C-594C-4309-AF3F-399320E6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5DB8D3-E70F-457A-8335-C3D26436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Related work · parametric insurance and basis risk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ED5CAD-9F95-495E-A97D-E572702C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Fast index-based decisions reduce claim friction, but an imperfect trigger can miss a worker’s actual loss.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DEAE1B-4EE5-4CF8-A3A7-2FD70298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E2FC8DA-F823-4E0F-AFCD-B9D3B1F8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D220D67-2EC9-4C61-830C-6924C1AC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2CA9CD-6416-4810-A7B1-F43320F7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28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B7101B-D60A-4C72-AAFD-5D283F9D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FINDING / FEATURE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9D00720-2A9F-4706-A0ED-1C65EAAE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LIMITATION FOR THIS USE CASE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6281D1-C909-4BDB-9A33-CA7B627D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9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2249400-D185-4CE3-86EE-A5E9882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Clement et al.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Global review of basis risk (2018)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904673D-09B5-416B-9A1D-61D4DC76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Reviews how index-to-loss mismatch affects product performance and demand.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8407392-ACA4-41A9-AE83-358AFDBC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 weather trigger may not match a localized, ride-specific interruption; the reviewed evidence is largely agricultural.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67D45BA-5716-473E-8204-E370456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56CFD1-81ED-4354-838D-1CA76432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Chen et al.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Neural-network index design (2024)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AC3BCEE-613F-4B81-900E-60C38E85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00475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Uses nonlinear weather-to-loss modeling to reduce basis risk in an agricultural index-insurance setting.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FFEED03-65E4-4783-8ECD-0B58E44B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Requires suitable historical loss and weather data; the study models crop losses, not delivery work or civic events.</a:t>
            </a:r>
          </a:p>
        </p:txBody>
      </p: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345CB000-301B-4519-B297-50BCB6FF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1429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E73DF12-548E-4839-82EC-FF7D6CF1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Design response in GigShield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1751151-3E1E-4B35-9276-8F4042B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578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Match evidence to a specific ride’s zone and time; preserve manual review when evidence is absent.</a:t>
            </a:r>
          </a:p>
        </p:txBody>
      </p:sp>
    </p:spTree>
    <p:extLst>
      <p:ext uri="{BB962C8B-B14F-4D97-AF65-F5344CB8AC3E}">
        <p14:creationId xmlns:p14="http://schemas.microsoft.com/office/powerpoint/2010/main" val="2075442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EB0043F-D96C-4566-89EC-924F87BC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0EC863-A970-4923-8A75-8B602586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Project gaps and objectives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63A8D3-18CB-4A82-AF25-7424B90B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	To translate the research context into a bounded, testable software prototype.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258477-C4EE-4000-A0EC-BE74928F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ADC8F8-6F79-4ADF-9974-28E47566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0DA7263-E83C-4178-BE7C-858FD2D3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3E6E5AD-E80E-467A-B5C1-3D77266E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862C02-C687-4BB4-8E0F-3D3C0B1D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Sponsor-led coverage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54C8C1-6BA0-40D1-B092-08F0D91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09750"/>
            <a:ext cx="632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Let the delivery company own the plan and daily limit; riders register under that company.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709BA04-BAE9-4579-8EE9-B508F6E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5745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35892F8-0611-494D-A95E-D83558C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126CC49-A587-4D2C-9162-6A75BF86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194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Ride-level verification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3341152-419A-4A71-B5BA-D6E6E456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632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Compare reported disruption with evidence for the ride’s zone and time window.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A122AF1-E68D-430C-814E-4E11C65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E234953-B5DA-43A7-B079-6A1C2CC2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12AD977-17A1-4F0E-847A-BA3B918C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Fair handling of uncertainty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CCC4659-78FD-4E33-9A35-171CF311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29050"/>
            <a:ext cx="632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Auto-approve verified cases; route unmatched or flagged cases to an administrator.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07550EE-E4F2-4D2A-ACC5-5824F65F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07FDCA-F74A-4377-A14B-29848BB1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9778518-4C27-4C40-A6E3-A516E712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38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Traceable decisions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2EFB8E7-CE6C-42E7-A9DD-1AFB4D05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38700"/>
            <a:ext cx="632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Show evidence, weather snapshot, payout calculation and claim status in the interface.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7616DA4-93C1-4A52-832C-0B35494E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11FDA7B-1D89-4BAB-BBB4-96DE866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Scope: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E29EF4D-9895-4286-B7AE-787C8D30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245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Weather/civic income interruption only · company buys coverage · prototype payouts are not money transfers</a:t>
            </a:r>
          </a:p>
        </p:txBody>
      </p:sp>
    </p:spTree>
    <p:extLst>
      <p:ext uri="{BB962C8B-B14F-4D97-AF65-F5344CB8AC3E}">
        <p14:creationId xmlns:p14="http://schemas.microsoft.com/office/powerpoint/2010/main" val="247865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EFB9851-059D-491C-8816-B90DF56F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9ADC4B5-6AA2-4BD0-8AB1-0E957667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Coverage model · company buys, rider benefits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B88F29-D9F7-4170-89B1-D9AD91F2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 B2B2C structure keeps policy setup and payout limits with the sponsoring company.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93E6988-2B09-4871-8293-BA64C8DE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6C46BFF-6AA8-4E5A-98D0-092D258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269313-6A2B-4136-B3BF-3EA90F93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A36DE92-CAB1-49F8-921E-642FA47A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B9F0348-38FD-4E27-8F88-D8961A43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9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0FF2365-8AC1-4472-9453-A472A762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1. SPONSOR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31C5A28-FE98-40B8-A407-8C85F37B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24B0BD2-81EC-48E6-995B-806C649C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Creates a coverage plan and sets the daily payout ceiling.</a:t>
            </a:r>
          </a:p>
        </p:txBody>
      </p:sp>
      <p:sp>
        <p:nvSpPr>
          <p:cNvPr id="12" name="Arrow: Right 11">
            <a:extLst xmlns:a="http://schemas.openxmlformats.org/drawingml/2006/main">
              <a:ext uri="{FF2B5EF4-FFF2-40B4-BE49-F238E27FC236}">
                <a16:creationId xmlns:a16="http://schemas.microsoft.com/office/drawing/2014/main" id="{241E5F5C-2D87-4818-8407-071A928B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908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B3C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0DAEC6FF-3910-446A-BA5C-36943FEB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05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D78CB3-066E-4A35-87B7-15C11D0E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2. ENROLLMENT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059E830-E10A-49F4-8A97-719A3A6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Rider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1BCDC65-3E4F-44B0-8AAB-1B6D92DF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05225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Registers under the company and a service region; no rider premium.</a:t>
            </a:r>
          </a:p>
        </p:txBody>
      </p:sp>
      <p:sp>
        <p:nvSpPr>
          <p:cNvPr id="17" name="Arrow: Right 16">
            <a:extLst xmlns:a="http://schemas.openxmlformats.org/drawingml/2006/main">
              <a:ext uri="{FF2B5EF4-FFF2-40B4-BE49-F238E27FC236}">
                <a16:creationId xmlns:a16="http://schemas.microsoft.com/office/drawing/2014/main" id="{E91F263D-8E53-4245-923F-0323896A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908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B3C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7442A28D-6D87-43A8-B0FA-F78B1CE1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05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34985B5-3CEE-43BF-BDE0-CEE60DDB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3. TRIGGER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CC80F9C-F22A-410E-894F-5B6B0A3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Disruption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98158E4-E1F2-4B21-9876-F67EED71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05225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 completed delivery is interrupted by weather or civic conditions.</a:t>
            </a:r>
          </a:p>
        </p:txBody>
      </p:sp>
      <p:sp>
        <p:nvSpPr>
          <p:cNvPr id="22" name="Arrow: Right 21">
            <a:extLst xmlns:a="http://schemas.openxmlformats.org/drawingml/2006/main">
              <a:ext uri="{FF2B5EF4-FFF2-40B4-BE49-F238E27FC236}">
                <a16:creationId xmlns:a16="http://schemas.microsoft.com/office/drawing/2014/main" id="{460C66CE-DC24-49BA-A0A3-F02CD3B0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908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B3C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334EE7D2-14E0-4812-89C7-08C73E81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B4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8A53025-0652-4E5E-8377-7EF825A9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7AB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AB4E"/>
                </a:solidFill>
                <a:latin typeface="Arial"/>
                <a:ea typeface="Arial"/>
                <a:cs typeface="Arial"/>
              </a:rPr>
              <a:t>4. OUTCOME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4E30466-93A6-4150-AE0A-5F3BF760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13547A2-4D0D-4516-9AA1-6C382A17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05225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Evidence supports approval or sends the claim to admin review.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002158E-55F7-4179-ACB3-3DCE03E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1D9EA32-F47C-457F-816F-5452DF57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47"/>
            <a:ext cx="1866900" cy="30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Daily cap logic: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5152765-7AFA-4863-B7AD-ECC3A1A9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38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Approved payout = </a:t>
            </a:r>
            <a:r>
              <a:rPr sz="1600" b="1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min(claimed amount, remaining rider/day cap)</a:t>
            </a:r>
          </a:p>
        </p:txBody>
      </p:sp>
    </p:spTree>
    <p:extLst>
      <p:ext uri="{BB962C8B-B14F-4D97-AF65-F5344CB8AC3E}">
        <p14:creationId xmlns:p14="http://schemas.microsoft.com/office/powerpoint/2010/main" val="536303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6F9F489-957F-4802-8E41-4B9F682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5ADF7D-B24C-4737-9AE9-2C1B89FE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Methodology · evidence-to-decision pipeline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236336-3B76-4D1E-B4C1-DE1CA49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 deterministic sequence makes each outcome explainable and keeps uncertain claims reviewable.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01EA4B-5078-46AB-83D2-8902EE0D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6CE64F-6ED0-4B97-BF30-9D0A2623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D5037B-409E-43EE-99FA-E8B89394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77D3AA8-C157-4AD9-A4B4-0509C30B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9C9F2CA-86E4-40E2-990D-93859B2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Claim submitted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D08FAA0-CBF8-45CF-9DF8-DC34AFD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Ride ID · disruption type · description · requested amount</a:t>
            </a:r>
          </a:p>
        </p:txBody>
      </p:sp>
      <p:sp>
        <p:nvSpPr>
          <p:cNvPr id="10" name="Arrow: Right 9">
            <a:extLst xmlns:a="http://schemas.openxmlformats.org/drawingml/2006/main">
              <a:ext uri="{FF2B5EF4-FFF2-40B4-BE49-F238E27FC236}">
                <a16:creationId xmlns:a16="http://schemas.microsoft.com/office/drawing/2014/main" id="{A6E1FF03-F23F-4271-B026-313CBC0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" y="21907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FF7EC6B-675B-4447-9362-FB71732F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383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79C476D-BC6E-463E-8137-C430802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479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Evidence match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A964CAA-05A7-4D54-A3AB-751CAAD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242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Check zone/type and whether an event overlaps ride time</a:t>
            </a:r>
          </a:p>
        </p:txBody>
      </p:sp>
      <p:sp>
        <p:nvSpPr>
          <p:cNvPr id="14" name="Arrow: Right 13">
            <a:extLst xmlns:a="http://schemas.openxmlformats.org/drawingml/2006/main">
              <a:ext uri="{FF2B5EF4-FFF2-40B4-BE49-F238E27FC236}">
                <a16:creationId xmlns:a16="http://schemas.microsoft.com/office/drawing/2014/main" id="{E8537CD7-FA84-4D5E-B7C8-92DA802A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907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04F663D-2539-4007-8CA2-8ABEEB15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383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CCFA4BA-53BC-4275-B277-62DBA70C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479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Weather signal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185893-D907-4AA1-919F-12F3AC07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24200"/>
            <a:ext cx="2019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For weather claims, query current conditions at pickup coordinates</a:t>
            </a:r>
          </a:p>
        </p:txBody>
      </p:sp>
      <p:sp>
        <p:nvSpPr>
          <p:cNvPr id="18" name="Arrow: Right 17">
            <a:extLst xmlns:a="http://schemas.openxmlformats.org/drawingml/2006/main">
              <a:ext uri="{FF2B5EF4-FFF2-40B4-BE49-F238E27FC236}">
                <a16:creationId xmlns:a16="http://schemas.microsoft.com/office/drawing/2014/main" id="{3D002E69-4928-48F0-928B-5C4AB608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5E310F2-B709-4966-AAD0-CAB41AAB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7AB4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AB4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44DCF04-0982-4D3B-B275-469E9D82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479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D83E05E-993F-4DC1-8097-776CEBA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1952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Verified + active plan → approve; no match or no plan → manual review</a:t>
            </a:r>
          </a:p>
        </p:txBody>
      </p:sp>
      <p:sp>
        <p:nvSpPr>
          <p:cNvPr id="22" name="Arrow: Right 21">
            <a:extLst xmlns:a="http://schemas.openxmlformats.org/drawingml/2006/main">
              <a:ext uri="{FF2B5EF4-FFF2-40B4-BE49-F238E27FC236}">
                <a16:creationId xmlns:a16="http://schemas.microsoft.com/office/drawing/2014/main" id="{D16800E5-53FE-4AFD-906E-DDAF6126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59D3B39-84C1-449E-93A6-00870F0F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4125900-E850-4356-82A8-B4F45A19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Payout cap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7594635-55C1-4C17-9E64-C97B5DE8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1885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Apply remaining daily cap; record a prototype payout entry</a:t>
            </a:r>
          </a:p>
        </p:txBody>
      </p:sp>
      <p:sp>
        <p:nvSpPr>
          <p:cNvPr id="26" name="Rectangle: Rounded Corners 25">
            <a:extLst xmlns:a="http://schemas.openxmlformats.org/drawingml/2006/main">
              <a:ext uri="{FF2B5EF4-FFF2-40B4-BE49-F238E27FC236}">
                <a16:creationId xmlns:a16="http://schemas.microsoft.com/office/drawing/2014/main" id="{8BDF76A2-43BE-4A69-BFF1-06ADE6F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5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58672E9-B3AB-4A3E-AF2B-CE50279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Important distinction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8953D9F-3D15-4D37-AEB3-D1DBA65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387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943"/>
                </a:solidFill>
                <a:latin typeface="Arial"/>
                <a:ea typeface="Arial"/>
                <a:cs typeface="Arial"/>
              </a:rPr>
              <a:t>Admin traffic analysis is a separate workflow; its results do not feed the claim approval decision.</a:t>
            </a:r>
          </a:p>
        </p:txBody>
      </p:sp>
    </p:spTree>
    <p:extLst>
      <p:ext uri="{BB962C8B-B14F-4D97-AF65-F5344CB8AC3E}">
        <p14:creationId xmlns:p14="http://schemas.microsoft.com/office/powerpoint/2010/main" val="1975736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2AD9AAA-AB72-4E85-910A-8FBF5BBD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A1A58A-8BAA-4B11-9ADC-B74C2622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Architecture · web client, API and evidence services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A3C409-060A-45F4-B166-56DDBA56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The existing stack stays lightweight: Next.js at the edge, FastAPI for decisions, SQLAlchemy for persistence.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53EADD8-76D7-4EDD-BF3E-A9A5801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19CC8D3-7602-439A-9D78-0D94FE43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AC5CB64-B2A3-43EB-8234-E468C99E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4A2312E-431F-409E-8931-F8D2B5A8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24193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429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07007DF-43EE-43D9-A75D-2823866D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INTERFACES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C3ABCBE-D4F0-443F-9DAF-D8683CE5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695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64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Next.js 14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· Tailwind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BAF7C3F-6F60-4F98-8BB5-593B54FD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4E3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4E3EE"/>
                </a:solidFill>
                <a:latin typeface="Arial"/>
                <a:ea typeface="Arial"/>
                <a:cs typeface="Arial"/>
              </a:rPr>
              <a:t>Rider portal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D4E3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4E3EE"/>
                </a:solidFill>
                <a:latin typeface="Arial"/>
                <a:ea typeface="Arial"/>
                <a:cs typeface="Arial"/>
              </a:rPr>
              <a:t>Admin console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D4E3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4E3EE"/>
                </a:solidFill>
                <a:latin typeface="Arial"/>
                <a:ea typeface="Arial"/>
                <a:cs typeface="Arial"/>
              </a:rPr>
              <a:t>Leaflet route map</a:t>
            </a:r>
          </a:p>
        </p:txBody>
      </p:sp>
      <p:sp>
        <p:nvSpPr>
          <p:cNvPr id="11" name="Arrow: Right 10">
            <a:extLst xmlns:a="http://schemas.openxmlformats.org/drawingml/2006/main">
              <a:ext uri="{FF2B5EF4-FFF2-40B4-BE49-F238E27FC236}">
                <a16:creationId xmlns:a16="http://schemas.microsoft.com/office/drawing/2014/main" id="{4DD3B37A-C7FD-433E-963E-B570AB3A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B3C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683F5A0-2245-4F79-BDE3-BFF7B871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190750" cy="24193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4EF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6B237B-D66E-475A-A790-D3B6C04B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1C34B04-BD57-4974-9AFA-4B6F9E16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81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B3AA1ED-5BCF-4E13-9A6A-A7F29D50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9565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Rider + admin JWT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Claims · rides · plans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Analytics · admin CRUD</a:t>
            </a:r>
          </a:p>
        </p:txBody>
      </p:sp>
      <p:sp>
        <p:nvSpPr>
          <p:cNvPr id="16" name="Arrow: Right 15">
            <a:extLst xmlns:a="http://schemas.openxmlformats.org/drawingml/2006/main">
              <a:ext uri="{FF2B5EF4-FFF2-40B4-BE49-F238E27FC236}">
                <a16:creationId xmlns:a16="http://schemas.microsoft.com/office/drawing/2014/main" id="{C78ADFDB-02D6-4398-A871-955E93D1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B3C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0493F7C1-53D1-4881-A069-D2667DDB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628900" cy="2419350"/>
          </a:xfrm>
          <a:prstGeom xmlns:a="http://schemas.openxmlformats.org/drawingml/2006/main" prst="roundRect">
            <a:avLst>
              <a:gd name="adj" fmla="val 78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8293EA-542B-43D1-B993-7BE76182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DECISION SERVICES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9E906C2-460D-4537-B7BA-0F1A2534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Claim engine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7120272-A691-42DC-AF96-1EB4CA49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Evidence matching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Weather service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Daily payout cap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Credibility + frequency checks</a:t>
            </a:r>
          </a:p>
        </p:txBody>
      </p:sp>
      <p:sp>
        <p:nvSpPr>
          <p:cNvPr id="21" name="Arrow: Right 20">
            <a:extLst xmlns:a="http://schemas.openxmlformats.org/drawingml/2006/main">
              <a:ext uri="{FF2B5EF4-FFF2-40B4-BE49-F238E27FC236}">
                <a16:creationId xmlns:a16="http://schemas.microsoft.com/office/drawing/2014/main" id="{91657ABE-D1DE-4FAE-9D2D-305500F7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B3C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16CD24C-DAA8-43A6-9564-CAE57307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790700" cy="2419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03D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4D9A522-821A-4324-91CA-A4F58B31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1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9CBD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CBDE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B42B788-3272-4607-B896-5B75164A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SQLAlchemy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2BF412A-6185-49F2-9215-F9658ACF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4802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5E3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E3ED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988C2AE-1C15-4D26-AD00-095551DC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06C4EF1-B60D-474A-B77A-4F0BD28C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512"/>
            <a:ext cx="1638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External signal: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C0DCDFF-8798-4D9D-B25A-DE57B0DC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48275"/>
            <a:ext cx="874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943"/>
                </a:solidFill>
                <a:latin typeface="Arial"/>
                <a:ea typeface="Arial"/>
                <a:cs typeface="Arial"/>
              </a:rPr>
              <a:t>OpenWeatherMap current-weather endpoint · optional and failure-tolerant · live map tiles via Leaflet</a:t>
            </a:r>
          </a:p>
        </p:txBody>
      </p:sp>
    </p:spTree>
    <p:extLst>
      <p:ext uri="{BB962C8B-B14F-4D97-AF65-F5344CB8AC3E}">
        <p14:creationId xmlns:p14="http://schemas.microsoft.com/office/powerpoint/2010/main" val="1561267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4A97295C-03DF-475D-93B7-5B60808A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E7A4CD3-312A-49BC-9EC5-4A45158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Application modules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95D0C1-D7F5-4F56-A7B0-3F482BEC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Three product surfaces share a common claim and coverage engine.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0641AD-A7FF-4D4A-8B25-8D0516CE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6F8A8C9-4F58-40F3-A88F-06A956A2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6786D93-782F-4E6E-A043-05A4E268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B7AA815-813E-4301-9CDF-31161C3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F06F1D8-2874-4542-9DDC-B2A4EE33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8F46B6-E4B5-4CA4-8698-3499D34F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Rider workspace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1D97BA9-4ED0-45F2-9662-ACC9562A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7804E2-D64A-41DA-950A-DDB40E79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Company and region registration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36C5D24-283B-4550-91BF-83214A3C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DA5DB1F-753A-444D-A618-FB112307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Simulated delivery history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F7D52584-87F5-49F3-9E9E-046AC6FC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CBAD82B-B2C6-433E-9AAE-1F7FD4A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Ride detail and claim submission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168AAA52-02CA-4D72-988F-865AA7C8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0525945-055D-4620-A0E5-DE61F2D9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Income protection and claim history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56D53CC-6207-434C-98D2-AC57CC1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812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5996479-759B-4739-9120-6086A0FD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479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BF1D3E9-F179-4BCD-B0C4-5478BF0A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908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Admin operations</a:t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F457A96-F73E-4F3B-8D8A-78414763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C639050-570C-463B-9F55-411CBA2B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766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Company and plan management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94C76890-39E4-48D7-9914-FD84BC6A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30C5E34-9234-442B-9F41-6166F115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005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Regions and employee seeding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49F30F42-179E-453C-96A7-9ED57057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03E3606-3D3C-4034-B831-85A143E4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243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Claim evidence and route map</a:t>
            </a: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7CF827A7-F60C-47B1-A4D4-88F44884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10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13D9DB5-E84B-4C43-A95F-59B943A1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482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Approve / reject manual reviews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58A71A0-7137-4DE2-99FE-A38AD46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812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B4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41021F9-A9CD-4D52-B6A8-947356AF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E7AB4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7AB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267BAD0-4786-48A8-BC59-BDC5410C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908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Shared services</a:t>
            </a:r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F5ADEFD2-4422-4DAD-957E-AC8BEC8B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B4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A796E1E-532F-431E-89A6-7CFAB529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766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Role-separated JWT sessions</a:t>
            </a: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87CE60CE-6F68-4F6F-8E10-A5BA7412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B4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7054588-E23B-4AA8-BD73-71899B6F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Credibility and frequency flags</a:t>
            </a: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AB8E2F58-9911-4657-B227-4F6CAFB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B4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B093330D-0310-4075-8E78-D42E821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243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Current weather lookup</a:t>
            </a: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361BB842-FF00-47EA-BD62-492382B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0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B4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A6B120F-0D7D-4BD8-968B-8AC39543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482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Daily caps and payout records</a:t>
            </a:r>
          </a:p>
        </p:txBody>
      </p:sp>
      <p:sp>
        <p:nvSpPr>
          <p:cNvPr id="40" name="Rectangle: Rounded Corners 39">
            <a:extLst xmlns:a="http://schemas.openxmlformats.org/drawingml/2006/main">
              <a:ext uri="{FF2B5EF4-FFF2-40B4-BE49-F238E27FC236}">
                <a16:creationId xmlns:a16="http://schemas.microsoft.com/office/drawing/2014/main" id="{A0BCC6F3-6908-4FBB-8449-7E0B55C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44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EE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7206A98F-70A9-482B-9808-CE7E559C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Admin-only disruption fixtures and full evidence detail keep the rider-facing flow focused.</a:t>
            </a:r>
          </a:p>
        </p:txBody>
      </p:sp>
    </p:spTree>
    <p:extLst>
      <p:ext uri="{BB962C8B-B14F-4D97-AF65-F5344CB8AC3E}">
        <p14:creationId xmlns:p14="http://schemas.microsoft.com/office/powerpoint/2010/main" val="901606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82D633A-826A-4146-8F65-5C43B4B3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FD18EB-B1E9-495F-B722-F0D0EB2C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Prototype snapshot · Homepage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5160EF-EC20-4A54-8BAF-B436CAB0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Public landing page for company-sponsored rider cover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19F8982-C301-4E66-9DD9-9AC99961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00C66B-2FD0-4BDE-ABE8-012ED722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EAEF5F8-3975-43D7-9E8C-7E512893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62100"/>
            <a:ext cx="8820150" cy="48196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E84D0119-3176-40CF-9DD5-6AEBA1B01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dbbb7cf464043"/>
          <a:stretch xmlns:a="http://schemas.openxmlformats.org/drawingml/2006/main"/>
        </p:blipFill>
        <p:spPr>
          <a:xfrm xmlns:a="http://schemas.openxmlformats.org/drawingml/2006/main">
            <a:off x="1885950" y="1620493"/>
            <a:ext cx="8420100" cy="4733820"/>
          </a:xfrm>
          <a:prstGeom xmlns:a="http://schemas.openxmlformats.org/drawingml/2006/main" prst="roundRect">
            <a:avLst>
              <a:gd name="adj" fmla="val 3620"/>
            </a:avLst>
          </a:prstGeom>
        </p:spPr>
      </p:pic>
      <p:sp>
        <p:nvSpPr>
          <p:cNvPr id="21" name="Footer page number 10">
            <a:extLst xmlns:a="http://schemas.openxmlformats.org/drawingml/2006/main">
              <a:ext uri="{FF2B5EF4-FFF2-40B4-BE49-F238E27FC236}">
                <a16:creationId xmlns:a16="http://schemas.microsoft.com/office/drawing/2014/main" id="{C1DB25F7-5448-4DE8-B00E-82542FAE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4540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C17123E-6F41-5978-CD9F-6AF289FF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CD48F1B-0191-B87B-4DA3-CA2C3848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Prototype snapshot · Rider dashboard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FAB5DBD-DE7A-2E33-7B88-19701BF0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Riders track protected income, claims, and recent deliveries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9564B6-20B9-C5B0-C463-8AE01E3E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19C858E-2BC4-1915-CAB3-8A19DF2B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7DD9CA56-513D-407D-EF00-3FD37AF0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62100"/>
            <a:ext cx="8820150" cy="48196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DB1488E1-6D1D-484D-BA4D-313E132473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c50aa82464dd3"/>
          <a:srcRect xmlns:a="http://schemas.openxmlformats.org/drawingml/2006/main" l="0" t="0" r="8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2907" y="1609830"/>
            <a:ext cx="8346186" cy="4733820"/>
          </a:xfrm>
          <a:prstGeom xmlns:a="http://schemas.openxmlformats.org/drawingml/2006/main" prst="roundRect">
            <a:avLst>
              <a:gd name="adj" fmla="val 3620"/>
            </a:avLst>
          </a:prstGeom>
        </p:spPr>
      </p:pic>
      <p:sp>
        <p:nvSpPr>
          <p:cNvPr id="21" name="Footer page number 11">
            <a:extLst xmlns:a="http://schemas.openxmlformats.org/drawingml/2006/main">
              <a:ext uri="{FF2B5EF4-FFF2-40B4-BE49-F238E27FC236}">
                <a16:creationId xmlns:a16="http://schemas.microsoft.com/office/drawing/2014/main" id="{84E3484F-F3F1-4B91-AF4F-5E3C9C06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846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0A77B07-EB3B-B542-87C9-C827A09A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BFA8C34-593A-C0D1-6AEA-4B7916AE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Prototype snapshot · Admin dashboard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AD81BB-FA9B-4790-D7CF-47F66B9A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Admins manage company-funded coverage and review claims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723DE7-BCC8-C6AD-E102-441D7B83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35244E6-0203-FFAC-96CE-170FDE1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 · company-sponsored disruption cover · prototype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78D8DC0-596E-D531-CD57-BBE09CC2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62100"/>
            <a:ext cx="8820150" cy="48196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4AEE9E2F-686F-4D6A-9067-9BC3AF7FB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8bb870b9740c5"/>
          <a:stretch xmlns:a="http://schemas.openxmlformats.org/drawingml/2006/main"/>
        </p:blipFill>
        <p:spPr>
          <a:xfrm xmlns:a="http://schemas.openxmlformats.org/drawingml/2006/main">
            <a:off x="1885950" y="1619250"/>
            <a:ext cx="8420100" cy="4736306"/>
          </a:xfrm>
          <a:prstGeom xmlns:a="http://schemas.openxmlformats.org/drawingml/2006/main" prst="roundRect">
            <a:avLst>
              <a:gd name="adj" fmla="val 3620"/>
            </a:avLst>
          </a:prstGeom>
        </p:spPr>
      </p:pic>
      <p:sp>
        <p:nvSpPr>
          <p:cNvPr id="21" name="Footer page number 12">
            <a:extLst xmlns:a="http://schemas.openxmlformats.org/drawingml/2006/main">
              <a:ext uri="{FF2B5EF4-FFF2-40B4-BE49-F238E27FC236}">
                <a16:creationId xmlns:a16="http://schemas.microsoft.com/office/drawing/2014/main" id="{7F6BB8D6-A6DB-4449-AC3B-238EC33A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77921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E9BB907-ADB3-422B-AE23-FBFE8ABD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EAC32E-FAFE-4560-B2DF-53CA62F9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Implementation timeline · repository milestones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11EECE-B46A-4D9E-9F6B-FDB92352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The visible Git history spans about 10 weeks; commit dates show milestone activity, not full-time effort.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B07BACD-1738-4596-B5C2-5FC21E0C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FC8C3AC-3C2B-4C8E-961A-403B14E8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09A738A-B51A-4653-AC55-4488AFB7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90862"/>
            <a:ext cx="899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239D2F0-A064-48CF-966A-CC855A9B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97656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12CBF17-81AF-401E-8DCC-6FC000B8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33762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30 JUL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4581450-AE2D-4759-B2B0-03CA5A3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57612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Repository start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4AC96B9-7207-416D-A1A9-C8FF8CB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0537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Initial commit and project documentation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81EA7EB-44AE-4328-B3BA-6B72CD9A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7656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3C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F1A951-CA7B-4E07-8855-81E9E893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33762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19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D76C6FA-1AC2-49C9-9AC1-C242B74E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7612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Full-stack base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DF22F38-C042-4F86-A467-E3E8B99B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00537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Frontend, backend and database connected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FA3F59A3-DD32-4F4A-9C38-8247E2B8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7656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756036D-C321-40FC-9821-E6D2870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33762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30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3517FD-42B2-4058-A6F6-F321C759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57612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Claim flow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819E0AE-B90E-4D6F-BD15-8F1A1C9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0537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Simulated rides and first end-to-end claim path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EE5B33BE-0A18-4343-A0D7-DB098AB6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97656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B4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791E06A-5994-4CAA-B7ED-5FEA5893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33762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7AB4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AB4E"/>
                </a:solidFill>
                <a:latin typeface="Arial"/>
                <a:ea typeface="Arial"/>
                <a:cs typeface="Arial"/>
              </a:rPr>
              <a:t>05 SEP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5CE82BA-0DD0-4756-BABB-5A1DA9CC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57612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E9817F2-9F0D-4C40-9150-FEF7B14E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00537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Admin, payouts, credibility and analytics</a:t>
            </a: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93AF7CE1-B5D5-4E65-A63F-DCE2B841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97656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D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26B25FB-921D-404C-9D4F-D2428BFA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33762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13 SEP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478D2DA-4D2F-4D98-8B27-EAC9FE94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57612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Backend refinement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D73C353-0D41-466F-A16D-A3FDAC1B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0537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Coverage rules, fraud flags and evidence detail</a:t>
            </a: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751663B4-8F58-4F12-9C8C-6EDD2793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97656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9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C61FEC4-BCDC-4E3B-BBAF-0EE00E66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433762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08 OCT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BFF648D8-8929-4C73-A771-AE505F8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757612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Demo polish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268F203-EC0A-4363-ADD8-3383BB54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0537"/>
            <a:ext cx="1638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Visual refinement and project documentation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8A444BB-B545-45F7-A460-49825C4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 repository commit: 30 Jul 2026 · latest commit: 09 Oct 2026 (c9c0516) · working-tree changes reviewed 10 Oct 2026</a:t>
            </a:r>
          </a:p>
        </p:txBody>
      </p:sp>
      <p:sp>
        <p:nvSpPr>
          <p:cNvPr id="36" name="Footer page number 13">
            <a:extLst xmlns:a="http://schemas.openxmlformats.org/drawingml/2006/main">
              <a:ext uri="{FF2B5EF4-FFF2-40B4-BE49-F238E27FC236}">
                <a16:creationId xmlns:a16="http://schemas.microsoft.com/office/drawing/2014/main" id="{43E01862-F0AA-440F-8594-F1FBE2B0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981575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6EB0ACD-9740-4961-851C-2557CE5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71033F-6D10-411B-935A-74694581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Implemented outcomes and evidence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98DD31-5D1F-4884-BA2D-89FE743B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The prototype demonstrates the complete sponsor-to-claim path without implying production readiness.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D4A9C2-A61A-4EB8-A612-545AC454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FB47324-F53F-46B5-93C5-946C95C1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103217-E977-47A5-AB42-29E66EE0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78B3CE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78B3C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F6C2A61-2869-4699-BFCA-ABEAF2A6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starter regions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8109014-5491-46C9-9029-3190C5F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Chennai Central · Mumbai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Tambaram · Coimbatore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729441-BBB0-4721-A95F-77A4D8F8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43125"/>
            <a:ext cx="952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4F94BC5-603F-4309-A2EC-C7B910D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326C0B8-68F6-4F64-A337-3F74C923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simulated rides / run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7A1F82A-E2DD-4759-8592-F7BB513C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337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Named Chennai locations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with route coordinates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1D39D43-274F-4009-8AA7-FAA13A61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43125"/>
            <a:ext cx="952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7109078-A1BF-4CD5-B0C6-49E22175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E7AB4E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E7AB4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FC217D4-FC1E-4366-BFCD-D3DE2130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separate login roles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D076C0B-4B76-4985-BB75-AC70ACA4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337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Rider JWT and admin JWT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with guarded admin routes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9E258FC-7A73-4254-ADFC-4F61C4E5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43125"/>
            <a:ext cx="9525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638ADEF-C3E2-4ABD-81F6-FC6157BD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0065840-91C0-4F3E-9D0E-DEC630E4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smoke-test cases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BDD2601-B376-4FC3-99A8-3C3F338E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337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6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Attempted health and admin-auth checks; app startup stalled before pytest returned results.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C7A89E1-454A-4C68-94A9-85711B9E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F99D1B8-92C5-4FCB-B376-56B010B4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Observed system behaviors: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497886A-0142-440A-8BCE-F68A8DD9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7" y="4800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Evidence-linked auto-approval · manual-review queue · daily payout cap · admin claim detail and route map · simulated payout record</a:t>
            </a:r>
          </a:p>
        </p:txBody>
      </p:sp>
      <p:sp>
        <p:nvSpPr>
          <p:cNvPr id="27" name="Footer page number 14">
            <a:extLst xmlns:a="http://schemas.openxmlformats.org/drawingml/2006/main">
              <a:ext uri="{FF2B5EF4-FFF2-40B4-BE49-F238E27FC236}">
                <a16:creationId xmlns:a16="http://schemas.microsoft.com/office/drawing/2014/main" id="{F94C5079-D6E9-40D6-992C-006D1A93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57526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FC22F3-E20B-4B7A-9E8F-73375847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EEC26-F8CB-4941-850C-626C4894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End-to-end project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211BF-350C-4CD0-B6E9-BED5E4FC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Company-funded cover connects rider activity, disruption evidence and a transparent claim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997A1-1037-42DD-A2A3-C8F4DDA1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A1557-4992-4134-9730-CF673D26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 · company-sponsored disruption cover 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8F2EA-FC6F-47C4-9B05-B3092EE7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66A17-D1CF-4D1A-9C56-8DC38DA2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E205A-029B-4708-A8E8-9ECBAC87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01  Sponsor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AB46A-FAD1-4B2C-8EBA-7FAC548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Company creates a plan</a:t>
            </a:r>
          </a:p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and sets the daily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98662-A9EC-4161-9702-7674E45F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717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82996-6C35-4339-B0ED-5EE5293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06A4C-87FB-463D-B67B-EF0483C2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02  Rider enrollment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4E35F-9C2F-43E6-B6AF-CDA2111B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479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Rider joins the company</a:t>
            </a:r>
          </a:p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and selects a service 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AF9B9-7778-474B-8595-46237F8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717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8DE62-26EF-46FC-B485-D7868591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1E12D-C7D7-4837-A775-5B141E98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03  Delivery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8A89E-8430-4A4C-9C29-475EBF1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479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Completed rides store</a:t>
            </a:r>
          </a:p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time, route and fare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14FEE-4E8B-45BB-928C-B09A6B83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717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019A9-1B3D-4B2F-929E-1D326CE3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A8B6C-5A6C-470D-9AD6-BD6104ED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04  Claim submitted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D10E9-8799-4E66-B486-4CCDA1BA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479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Rider selects a ride,</a:t>
            </a:r>
          </a:p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disruption and amount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DD203-A279-43B0-8DD2-29EB4530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19425"/>
            <a:ext cx="142875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FD072-4069-45AD-AAA0-846C2F17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9EDEC-5425-4C90-88DA-88E5D76C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08  Payout +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81DA6-10A2-4496-AEEC-2E1F4857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Approved amount is capped;</a:t>
            </a:r>
          </a:p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payout entry is recorded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56D0D-B689-4D6E-BE66-763A82C3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9E757-1BA3-40C3-850D-7AE24472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07  Decision branch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E8569-F572-4999-9BBB-C1B5C49D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957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Eligible claims auto-approve;</a:t>
            </a:r>
          </a:p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uncertain cases go to 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2B1186-2D5B-4F53-A0DC-4F4B669A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10000"/>
            <a:ext cx="257175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BF883-1D55-46DE-ACA2-AD95173B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689A87-1F25-44B6-906E-CC16D3E4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06  Risk guardrails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A12D92-4B28-4B51-8D00-B9178608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957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Frequency and ride anomalies</a:t>
            </a:r>
          </a:p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can request human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EAF463-A6C3-4F78-B58D-272A30A3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10000"/>
            <a:ext cx="257175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DC125-9AF7-4367-A7F3-FE5E4226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2457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05FAB2-EDEF-478B-B237-D0A766A1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05  Evidence + cover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036B30-87F2-4355-B9DE-C2B091B0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957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Match disruption to ride time;</a:t>
            </a:r>
          </a:p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confirm company coverage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771C4-9D9F-495F-8578-F6E16EAD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810000"/>
            <a:ext cx="257175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E9C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B42472-E9FD-4A0E-AF49-780B83E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96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BD8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FA6C8F-BBA8-42E7-9E67-01634E00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ADMIN-ONLY ANALYTICS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EA07D5-6847-44AF-8DAC-9957133F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Traffic records → train Random Forest → analyze selected employee rides → save assessments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878BC6-1E11-473F-AEDB-9EF4F1B4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This traffic-analysis lane is separate from the claim decision. Six saved claim checkpoints show review progress to the rider.</a:t>
            </a:r>
          </a:p>
        </p:txBody>
      </p:sp>
    </p:spTree>
    <p:extLst>
      <p:ext uri="{BB962C8B-B14F-4D97-AF65-F5344CB8AC3E}">
        <p14:creationId xmlns:p14="http://schemas.microsoft.com/office/powerpoint/2010/main" val="8342257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773654-C8F9-40DF-8129-E41AB29A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9D15E-8A87-4798-A63D-BC943669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Claim decision paths and test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73224-4E13-479C-85E4-D0AA4627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The outcome depends on evidence, active company coverage, payout limits and review signals.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66699-778B-4AE2-85A5-8B1F2929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7629A-C9E8-41B0-9C78-3EF990F4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 · company-sponsored disruption cover 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EBEBE-B8D9-462A-8CC0-4E71D4B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2897A-2256-4B45-8B68-304B6001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D9A62-2845-4F72-86DF-ECA69FDE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47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SYSTEM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83847-17F1-4CF0-A34E-64D626CD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EFFECT ON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915E7-0C02-45C4-9D50-ACA5D32F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9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648EE-436E-4BE8-9142-109DC810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Evidence matches ride + active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149E4-9DC9-4D5F-B755-46274034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2410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Automatic approval, subject to risk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AD808-A897-4011-9D59-96D0F5DA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Payout is limited to the remaining daily 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385BA-D4C1-48CA-98C7-DBD03AB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62E7D-624B-4086-90AF-B6DAABF8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No matching disruption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CB8BE-B23B-4B75-A23D-4334A433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24175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22730-0C45-4676-9521-35095F40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No automatic payout; admin checks the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F846B-AF2F-412E-BF46-A4177DDB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55D5D-EA1C-4D6A-B6BD-4319ADF9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Evidence matches but no active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A8C22-DD31-4337-8CB6-C7D2F09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2425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C2D0A-7E23-4D80-9A42-CF22A1AB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Coverage must exist before an amount is payable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073FC-CDF9-4C9D-89BE-CA4CEA6F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011FC-BC8C-497E-AFA7-44D72851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Repeated filing or elevated ride anomaly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CF950-32BF-455F-9FAC-99CD35E0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24325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Manual review if otherwise approvable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1CD29-45C3-493B-A8E8-64F677C2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Flag prompts review; it does not auto-reject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6FE49-49CC-4E8E-9AB3-D98DAAF7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09549B-63DC-4B91-9994-0A86B133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A claim already exists for the ride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AA8222-374D-4632-AEE3-3C46A11E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2440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HTTP 409 duplicate 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D64B15-C33F-4FF8-9317-0C7DD33A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244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A second claim cannot be created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E6A1B7-0BD3-4D50-949E-E9390946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10858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E5C88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A425FD-75A9-4EF4-984D-7B96F399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A46D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46D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46D12"/>
                </a:solidFill>
                <a:latin typeface="Arial"/>
                <a:ea typeface="Arial"/>
                <a:cs typeface="Arial"/>
              </a:rPr>
              <a:t>TEST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A72B5-BFDA-48A8-A1CC-A764D830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911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3C4A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3C4A5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C4A56"/>
                </a:solidFill>
                <a:latin typeface="Arial"/>
                <a:ea typeface="Arial"/>
                <a:cs typeface="Arial"/>
              </a:rPr>
              <a:t>Selected pytest health + admin-auth checks were interrupted after app startup stalled; no pass/fail results were produced. The rows above summarize the current decision rules, not a completed integration run.</a:t>
            </a:r>
          </a:p>
        </p:txBody>
      </p:sp>
    </p:spTree>
    <p:extLst>
      <p:ext uri="{BB962C8B-B14F-4D97-AF65-F5344CB8AC3E}">
        <p14:creationId xmlns:p14="http://schemas.microsoft.com/office/powerpoint/2010/main" val="12230906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BD6D04D-B88A-480D-9A29-A16EDFDB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GIGSHIELD  / 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ADF431-8B1F-43AD-8F8A-B43D12A0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29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943"/>
                </a:solidFill>
                <a:latin typeface="Arial"/>
                <a:ea typeface="Arial"/>
                <a:cs typeface="Arial"/>
              </a:rPr>
              <a:t>References and visual credits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E78CAD-9FD2-4FEC-893E-7816D776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Research sources and implementation details used in this presentation.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D1AA5F3-E001-4D18-A3C4-ADC3B746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4990122-0634-4A30-B7B1-4FD0D107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3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GigShield</a:t>
            </a:r>
            <a:r>
              <a:rPr sz="975" b="0">
                <a:solidFill>
                  <a:srgbClr val="607386"/>
                </a:solidFill>
                <a:latin typeface="Arial"/>
                <a:ea typeface="Arial"/>
                <a:cs typeface="Arial"/>
              </a:rPr>
              <a:t> · company-sponsored disruption cover ·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9C97DDD-702B-40DF-A68B-EDE56345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7CA113-F08F-4D8E-9C1D-740BB1FD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NITI Aayog. (2022). India’s Booming Gig and Platform Economy: Perspectives and Recommendations on the Future of Work. niti.gov.in · estimate: 7.7M gig workers in 2020–21.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9DB9E5E-A86F-4131-BBB6-337D15C5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ECEA624-B91F-4C1A-BB63-F2E7D53F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80574EF-0A9B-4041-B858-5CE30F27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ILO, ISSA &amp; OECD. (2023). Providing adequate and sustainable social protection for workers in the gig and platform economy. ilo.org.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AD45C0D-F8DF-4393-B8FA-58B7805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813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BC6AFB5-B99E-4CF7-BA4D-2ED22E5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F6AEAD9-D27E-445D-8234-7FD7293F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Clement, K.Y. et al. (2018). A global review of basis risk in index insurance. International Journal of Disaster Risk Reduction, 28, 845–853. doi:10.1016/j.ijdrr.2018.01.001.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3ACFA28-6ACB-4541-ABBA-2783D9C3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165AC62-F559-4CFD-BE97-1846F7B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E9C9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E9C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445B5DA-2457-4B4A-AEC0-B7953CC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67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Chen, Z. et al. (2024). Managing Weather Risk with a Neural Network-Based Index Insurance. Management Science, 70(7), 4306–4327. doi:10.1287/mnsc.2023.4902.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3E3EFAB-3AC5-4607-8A4F-F6AD0A2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95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34FD35D-CD43-42B5-90C4-1E884C79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B6E42AA-4479-4D7B-B938-47FA6977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GigShield source repository. AnkushKr836/GigShield, local HEAD c9c0516 plus working-tree changes, reviewed 10 October 2026.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E93C27C-AF47-4CC8-A647-54BF894B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1374E0-2227-4647-A474-5D3CC431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B9B82D4-C341-4B3F-803E-5EB9E76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0537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B2B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B2B3D"/>
                </a:solidFill>
                <a:latin typeface="Arial"/>
                <a:ea typeface="Arial"/>
                <a:cs typeface="Arial"/>
              </a:rPr>
              <a:t>OpenWeatherMap. Current Weather API documentation. openweathermap.org/current.</a:t>
            </a:r>
          </a:p>
        </p:txBody>
      </p:sp>
      <p:sp>
        <p:nvSpPr>
          <p:cNvPr id="28" name="Footer page number 15">
            <a:extLst xmlns:a="http://schemas.openxmlformats.org/drawingml/2006/main">
              <a:ext uri="{FF2B5EF4-FFF2-40B4-BE49-F238E27FC236}">
                <a16:creationId xmlns:a16="http://schemas.microsoft.com/office/drawing/2014/main" id="{9B2A2EF6-03C4-4B14-B27D-E42B6E51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87D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D9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31010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8545" dir="4557825">
              <a:srgbClr val="142943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2026-10-10T02:58:33.7250000Z</dcterms:created>
  <dcterms:modified xsi:type="dcterms:W3CDTF">2026-10-10T02:58:33.7250000Z</dcterms:modified>
</coreProperties>
</file>